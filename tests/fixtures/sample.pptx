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Adoption Rate</c:v>
                </c:pt>
              </c:strCache>
            </c:strRef>
          </c:tx>
          <c:spPr>
            <a:solidFill>
              <a:srgbClr val="065A82"/>
            </a:solidFill>
            <a:effectLst/>
          </c:spPr>
          <c:invertIfNegative val="0"/>
          <c:dLbls>
            <c:numFmt formatCode="#,##0" sourceLinked="0"/>
            <c:txPr>
              <a:bodyPr/>
              <a:lstStyle/>
              <a:p>
                <a:pPr>
                  <a:defRPr b="0" i="0" strike="noStrike" sz="1100" u="none">
                    <a:solidFill>
                      <a:srgbClr val="1A202C"/>
                    </a:solidFill>
                    <a:latin typeface="Arial"/>
                  </a:defRPr>
                </a:pPr>
              </a:p>
            </c:txPr>
            <c:showLegendKey val="0"/>
            <c:showVal val="1"/>
            <c:showCatName val="0"/>
            <c:showSerName val="0"/>
            <c:showPercent val="0"/>
            <c:showBubbleSize val="0"/>
            <c:showLeaderLines val="0"/>
          </c:dLbls>
          <c:cat>
            <c:multiLvlStrRef>
              <c:f>Sheet1!$A$2:$A$7</c:f>
              <c:multiLvlStrCache>
                <c:ptCount val="6"/>
                <c:lvl>
                  <c:pt idx="0">
                    <c:v>Radiology</c:v>
                  </c:pt>
                  <c:pt idx="1">
                    <c:v>Pathology</c:v>
                  </c:pt>
                  <c:pt idx="2">
                    <c:v>Drug Discovery</c:v>
                  </c:pt>
                  <c:pt idx="3">
                    <c:v>Clinical Trials</c:v>
                  </c:pt>
                  <c:pt idx="4">
                    <c:v>Patient Monitoring</c:v>
                  </c:pt>
                  <c:pt idx="5">
                    <c:v>Admin &amp; Billing</c:v>
                  </c:pt>
                </c:lvl>
              </c:multiLvlStrCache>
            </c:multiLvlStrRef>
          </c:cat>
          <c:val>
            <c:numRef>
              <c:f>Sheet1!$B$2:$B$7</c:f>
              <c:numCache>
                <c:formatCode>General</c:formatCode>
                <c:ptCount val="6"/>
                <c:pt idx="0">
                  <c:v>78</c:v>
                </c:pt>
                <c:pt idx="1">
                  <c:v>65</c:v>
                </c:pt>
                <c:pt idx="2">
                  <c:v>58</c:v>
                </c:pt>
                <c:pt idx="3">
                  <c:v>52</c:v>
                </c:pt>
                <c:pt idx="4">
                  <c:v>45</c:v>
                </c:pt>
                <c:pt idx="5">
                  <c:v>72</c:v>
                </c:pt>
              </c:numCache>
            </c:numRef>
          </c:val>
        </c:ser>
        <c:dLbls>
          <c:numFmt formatCode="#,##0" sourceLinked="0"/>
          <c:txPr>
            <a:bodyPr/>
            <a:lstStyle/>
            <a:p>
              <a:pPr>
                <a:defRPr b="0" i="0" strike="noStrike" sz="1100" u="none">
                  <a:solidFill>
                    <a:srgbClr val="1A20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D3748"/>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presentation on the future of artificial intelligence in healthcare. Over the next few minutes, we'll explore how AI is fundamentally changing the way we diagnose diseases, develop treatments, and care for patients. This is one of the most exciting intersections of technology and human wellbeing happening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tell a compelling story. The global AI in healthcare market is projected to reach one hundred and eighty-seven billion dollars by 2030. Studies show AI-assisted diagnosis can reduce errors by up to forty percent. And perhaps most importantly, the World Health Organization estimates that AI could help save three point six million lives annually by the end of this decade. These aren't just projections — they represent a fundamental shift in how medicine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four key areas where AI is making the biggest impact in healthcare. First, medical imaging — AI can now detect tumors and anomalies in scans with accuracy that matches or exceeds radiologists. Second, predictive analytics, where machine learning models can forecast patient outcomes and disease outbreaks. Third, virtual health assistants that provide twenty-four-seven patient support and triage. And fourth, drug discovery — where AI is compressing timelines from years down to months by simulating molecular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AI adoption rates across different healthcare sectors as of 2025. Radiology leads the way at seventy-eight percent, which makes sense since image analysis was one of the earliest AI applications. Administrative and billing automation is also high at seventy-two percent — a reminder that AI isn't just for clinical use. Pathology follows at sixty-five percent, while drug discovery and clinical trials are growing rapidly. Patient monitoring sits at forty-five percent but is expected to grow the fastest over the next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with great potential comes significant challenges. First, data privacy — healthcare data is among the most sensitive, and we need to balance AI training needs with strict regulations like HIPAA and GDPR. Second, algorithmic bias is a real concern. If AI models are trained on data that doesn't represent all patient populations, the results can be unfair or even harmful. Third, regulatory approval. Getting FDA clearance for medical AI is a lengthy process, and rightfully so — these systems directly impact patient safety. Addressing all three of these challenges is essential for building trust and ensuring responsible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AI in healthcare is not some distant promise — it's happening right now. As the saying goes, AI won't replace doctors, but doctors who use AI will replace those who don't. The organizations and practitioners who embrace these tools today will be the ones leading healthcare innovation tomorrow. Thank you for watching, and I hope this has given you a sense of just how transformative this technology is going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pic>
        <p:nvPicPr>
          <p:cNvPr id="3" name="Image 0" descr="preencoded.png">    </p:cNvPr>
          <p:cNvPicPr>
            <a:picLocks noChangeAspect="1"/>
          </p:cNvPicPr>
          <p:nvPr/>
        </p:nvPicPr>
        <p:blipFill>
          <a:blip r:embed="rId1"/>
          <a:stretch>
            <a:fillRect/>
          </a:stretch>
        </p:blipFill>
        <p:spPr>
          <a:xfrm>
            <a:off x="4114800" y="731520"/>
            <a:ext cx="914400" cy="914400"/>
          </a:xfrm>
          <a:prstGeom prst="rect">
            <a:avLst/>
          </a:prstGeom>
        </p:spPr>
      </p:pic>
      <p:sp>
        <p:nvSpPr>
          <p:cNvPr id="4" name="Text 1"/>
          <p:cNvSpPr/>
          <p:nvPr/>
        </p:nvSpPr>
        <p:spPr>
          <a:xfrm>
            <a:off x="731520" y="1828800"/>
            <a:ext cx="7680960" cy="1645920"/>
          </a:xfrm>
          <a:prstGeom prst="rect">
            <a:avLst/>
          </a:prstGeom>
          <a:noFill/>
          <a:ln/>
        </p:spPr>
        <p:txBody>
          <a:bodyPr wrap="square" rtlCol="0" anchor="ctr"/>
          <a:lstStyle/>
          <a:p>
            <a:pPr algn="ctr" indent="0" marL="0">
              <a:lnSpc>
                <a:spcPct val="110000"/>
              </a:lnSpc>
              <a:buNone/>
            </a:pPr>
            <a:r>
              <a:rPr lang="en-US" sz="4200" b="1" dirty="0">
                <a:solidFill>
                  <a:srgbClr val="FFFFFF"/>
                </a:solidFill>
                <a:latin typeface="Georgia" pitchFamily="34" charset="0"/>
                <a:ea typeface="Georgia" pitchFamily="34" charset="-122"/>
                <a:cs typeface="Georgia" pitchFamily="34" charset="-120"/>
              </a:rPr>
              <a:t>The Future of AI</a:t>
            </a:r>
            <a:endParaRPr lang="en-US" sz="4200" dirty="0"/>
          </a:p>
          <a:p>
            <a:pPr algn="ctr" indent="0" marL="0">
              <a:lnSpc>
                <a:spcPct val="110000"/>
              </a:lnSpc>
              <a:buNone/>
            </a:pPr>
            <a:r>
              <a:rPr lang="en-US" sz="4200" b="1" dirty="0">
                <a:solidFill>
                  <a:srgbClr val="FFFFFF"/>
                </a:solidFill>
                <a:latin typeface="Georgia" pitchFamily="34" charset="0"/>
                <a:ea typeface="Georgia" pitchFamily="34" charset="-122"/>
                <a:cs typeface="Georgia" pitchFamily="34" charset="-120"/>
              </a:rPr>
              <a:t>in Healthcare</a:t>
            </a:r>
            <a:endParaRPr lang="en-US" sz="4200" dirty="0"/>
          </a:p>
        </p:txBody>
      </p:sp>
      <p:sp>
        <p:nvSpPr>
          <p:cNvPr id="5" name="Text 2"/>
          <p:cNvSpPr/>
          <p:nvPr/>
        </p:nvSpPr>
        <p:spPr>
          <a:xfrm>
            <a:off x="1371600" y="3566160"/>
            <a:ext cx="6400800" cy="640080"/>
          </a:xfrm>
          <a:prstGeom prst="rect">
            <a:avLst/>
          </a:prstGeom>
          <a:noFill/>
          <a:ln/>
        </p:spPr>
        <p:txBody>
          <a:bodyPr wrap="square" rtlCol="0" anchor="ctr"/>
          <a:lstStyle/>
          <a:p>
            <a:pPr algn="ctr" indent="0" marL="0">
              <a:buNone/>
            </a:pPr>
            <a:r>
              <a:rPr lang="en-US" sz="1600" dirty="0">
                <a:solidFill>
                  <a:srgbClr val="718096"/>
                </a:solidFill>
                <a:latin typeface="Calibri" pitchFamily="34" charset="0"/>
                <a:ea typeface="Calibri" pitchFamily="34" charset="-122"/>
                <a:cs typeface="Calibri" pitchFamily="34" charset="-120"/>
              </a:rPr>
              <a:t>How artificial intelligence is transforming diagnosis, treatment, and patient care</a:t>
            </a:r>
            <a:endParaRPr lang="en-US" sz="1600" dirty="0"/>
          </a:p>
        </p:txBody>
      </p:sp>
      <p:sp>
        <p:nvSpPr>
          <p:cNvPr id="6" name="Shape 3"/>
          <p:cNvSpPr/>
          <p:nvPr/>
        </p:nvSpPr>
        <p:spPr>
          <a:xfrm>
            <a:off x="3200400" y="4297680"/>
            <a:ext cx="2743200" cy="0"/>
          </a:xfrm>
          <a:prstGeom prst="line">
            <a:avLst/>
          </a:prstGeom>
          <a:noFill/>
          <a:ln w="25400">
            <a:solidFill>
              <a:srgbClr val="0891B2"/>
            </a:solidFill>
            <a:prstDash val="solid"/>
          </a:ln>
        </p:spPr>
      </p:sp>
      <p:sp>
        <p:nvSpPr>
          <p:cNvPr id="7" name="Text 4"/>
          <p:cNvSpPr/>
          <p:nvPr/>
        </p:nvSpPr>
        <p:spPr>
          <a:xfrm>
            <a:off x="731520" y="4572000"/>
            <a:ext cx="7680960" cy="365760"/>
          </a:xfrm>
          <a:prstGeom prst="rect">
            <a:avLst/>
          </a:prstGeom>
          <a:noFill/>
          <a:ln/>
        </p:spPr>
        <p:txBody>
          <a:bodyPr wrap="square" rtlCol="0" anchor="ctr"/>
          <a:lstStyle/>
          <a:p>
            <a:pPr algn="ctr" indent="0" marL="0">
              <a:buNone/>
            </a:pPr>
            <a:r>
              <a:rPr lang="en-US" sz="1300" dirty="0">
                <a:solidFill>
                  <a:srgbClr val="718096"/>
                </a:solidFill>
                <a:latin typeface="Calibri" pitchFamily="34" charset="0"/>
                <a:ea typeface="Calibri" pitchFamily="34" charset="-122"/>
                <a:cs typeface="Calibri" pitchFamily="34" charset="-120"/>
              </a:rPr>
              <a:t>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891B2"/>
          </a:solidFill>
          <a:ln/>
        </p:spPr>
      </p:sp>
      <p:sp>
        <p:nvSpPr>
          <p:cNvPr id="3" name="Text 1"/>
          <p:cNvSpPr/>
          <p:nvPr/>
        </p:nvSpPr>
        <p:spPr>
          <a:xfrm>
            <a:off x="731520" y="365760"/>
            <a:ext cx="7772400" cy="640080"/>
          </a:xfrm>
          <a:prstGeom prst="rect">
            <a:avLst/>
          </a:prstGeom>
          <a:noFill/>
          <a:ln/>
        </p:spPr>
        <p:txBody>
          <a:bodyPr wrap="square" lIns="0" tIns="0" rIns="0" bIns="0"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The AI Healthcare Revolution</a:t>
            </a:r>
            <a:endParaRPr lang="en-US" sz="3600" dirty="0"/>
          </a:p>
        </p:txBody>
      </p:sp>
      <p:sp>
        <p:nvSpPr>
          <p:cNvPr id="4" name="Shape 2"/>
          <p:cNvSpPr/>
          <p:nvPr/>
        </p:nvSpPr>
        <p:spPr>
          <a:xfrm>
            <a:off x="731520" y="1371600"/>
            <a:ext cx="251460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371600"/>
            <a:ext cx="2514600" cy="54864"/>
          </a:xfrm>
          <a:prstGeom prst="rect">
            <a:avLst/>
          </a:prstGeom>
          <a:solidFill>
            <a:srgbClr val="065A82"/>
          </a:solidFill>
          <a:ln/>
        </p:spPr>
      </p:sp>
      <p:sp>
        <p:nvSpPr>
          <p:cNvPr id="6" name="Text 4"/>
          <p:cNvSpPr/>
          <p:nvPr/>
        </p:nvSpPr>
        <p:spPr>
          <a:xfrm>
            <a:off x="731520" y="1645920"/>
            <a:ext cx="2514600" cy="914400"/>
          </a:xfrm>
          <a:prstGeom prst="rect">
            <a:avLst/>
          </a:prstGeom>
          <a:noFill/>
          <a:ln/>
        </p:spPr>
        <p:txBody>
          <a:bodyPr wrap="square" rtlCol="0" anchor="ctr"/>
          <a:lstStyle/>
          <a:p>
            <a:pPr algn="ctr" indent="0" marL="0">
              <a:buNone/>
            </a:pPr>
            <a:r>
              <a:rPr lang="en-US" sz="4400" b="1" dirty="0">
                <a:solidFill>
                  <a:srgbClr val="065A82"/>
                </a:solidFill>
                <a:latin typeface="Georgia" pitchFamily="34" charset="0"/>
                <a:ea typeface="Georgia" pitchFamily="34" charset="-122"/>
                <a:cs typeface="Georgia" pitchFamily="34" charset="-120"/>
              </a:rPr>
              <a:t>$187B</a:t>
            </a:r>
            <a:endParaRPr lang="en-US" sz="4400" dirty="0"/>
          </a:p>
        </p:txBody>
      </p:sp>
      <p:sp>
        <p:nvSpPr>
          <p:cNvPr id="7" name="Text 5"/>
          <p:cNvSpPr/>
          <p:nvPr/>
        </p:nvSpPr>
        <p:spPr>
          <a:xfrm>
            <a:off x="914400" y="2651760"/>
            <a:ext cx="2148840" cy="914400"/>
          </a:xfrm>
          <a:prstGeom prst="rect">
            <a:avLst/>
          </a:prstGeom>
          <a:noFill/>
          <a:ln/>
        </p:spPr>
        <p:txBody>
          <a:bodyPr wrap="square" rtlCol="0" anchor="t"/>
          <a:lstStyle/>
          <a:p>
            <a:pPr algn="ctr" indent="0" marL="0">
              <a:buNone/>
            </a:pPr>
            <a:r>
              <a:rPr lang="en-US" sz="1300" dirty="0">
                <a:solidFill>
                  <a:srgbClr val="2D3748"/>
                </a:solidFill>
                <a:latin typeface="Calibri" pitchFamily="34" charset="0"/>
                <a:ea typeface="Calibri" pitchFamily="34" charset="-122"/>
                <a:cs typeface="Calibri" pitchFamily="34" charset="-120"/>
              </a:rPr>
              <a:t>Projected AI in</a:t>
            </a:r>
            <a:endParaRPr lang="en-US" sz="1300" dirty="0"/>
          </a:p>
          <a:p>
            <a:pPr algn="ctr" indent="0" marL="0">
              <a:buNone/>
            </a:pPr>
            <a:r>
              <a:rPr lang="en-US" sz="1300" dirty="0">
                <a:solidFill>
                  <a:srgbClr val="2D3748"/>
                </a:solidFill>
                <a:latin typeface="Calibri" pitchFamily="34" charset="0"/>
                <a:ea typeface="Calibri" pitchFamily="34" charset="-122"/>
                <a:cs typeface="Calibri" pitchFamily="34" charset="-120"/>
              </a:rPr>
              <a:t>healthcare market by 2030</a:t>
            </a:r>
            <a:endParaRPr lang="en-US" sz="1300" dirty="0"/>
          </a:p>
        </p:txBody>
      </p:sp>
      <p:sp>
        <p:nvSpPr>
          <p:cNvPr id="8" name="Shape 6"/>
          <p:cNvSpPr/>
          <p:nvPr/>
        </p:nvSpPr>
        <p:spPr>
          <a:xfrm>
            <a:off x="3520440" y="1371600"/>
            <a:ext cx="251460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3520440" y="1371600"/>
            <a:ext cx="2514600" cy="54864"/>
          </a:xfrm>
          <a:prstGeom prst="rect">
            <a:avLst/>
          </a:prstGeom>
          <a:solidFill>
            <a:srgbClr val="1C7293"/>
          </a:solidFill>
          <a:ln/>
        </p:spPr>
      </p:sp>
      <p:sp>
        <p:nvSpPr>
          <p:cNvPr id="10" name="Text 8"/>
          <p:cNvSpPr/>
          <p:nvPr/>
        </p:nvSpPr>
        <p:spPr>
          <a:xfrm>
            <a:off x="3520440" y="1645920"/>
            <a:ext cx="2514600" cy="914400"/>
          </a:xfrm>
          <a:prstGeom prst="rect">
            <a:avLst/>
          </a:prstGeom>
          <a:noFill/>
          <a:ln/>
        </p:spPr>
        <p:txBody>
          <a:bodyPr wrap="square" rtlCol="0" anchor="ctr"/>
          <a:lstStyle/>
          <a:p>
            <a:pPr algn="ctr" indent="0" marL="0">
              <a:buNone/>
            </a:pPr>
            <a:r>
              <a:rPr lang="en-US" sz="4400" b="1" dirty="0">
                <a:solidFill>
                  <a:srgbClr val="1C7293"/>
                </a:solidFill>
                <a:latin typeface="Georgia" pitchFamily="34" charset="0"/>
                <a:ea typeface="Georgia" pitchFamily="34" charset="-122"/>
                <a:cs typeface="Georgia" pitchFamily="34" charset="-120"/>
              </a:rPr>
              <a:t>40%</a:t>
            </a:r>
            <a:endParaRPr lang="en-US" sz="4400" dirty="0"/>
          </a:p>
        </p:txBody>
      </p:sp>
      <p:sp>
        <p:nvSpPr>
          <p:cNvPr id="11" name="Text 9"/>
          <p:cNvSpPr/>
          <p:nvPr/>
        </p:nvSpPr>
        <p:spPr>
          <a:xfrm>
            <a:off x="3703320" y="2651760"/>
            <a:ext cx="2148840" cy="914400"/>
          </a:xfrm>
          <a:prstGeom prst="rect">
            <a:avLst/>
          </a:prstGeom>
          <a:noFill/>
          <a:ln/>
        </p:spPr>
        <p:txBody>
          <a:bodyPr wrap="square" rtlCol="0" anchor="t"/>
          <a:lstStyle/>
          <a:p>
            <a:pPr algn="ctr" indent="0" marL="0">
              <a:buNone/>
            </a:pPr>
            <a:r>
              <a:rPr lang="en-US" sz="1300" dirty="0">
                <a:solidFill>
                  <a:srgbClr val="2D3748"/>
                </a:solidFill>
                <a:latin typeface="Calibri" pitchFamily="34" charset="0"/>
                <a:ea typeface="Calibri" pitchFamily="34" charset="-122"/>
                <a:cs typeface="Calibri" pitchFamily="34" charset="-120"/>
              </a:rPr>
              <a:t>Reduction in diagnostic</a:t>
            </a:r>
            <a:endParaRPr lang="en-US" sz="1300" dirty="0"/>
          </a:p>
          <a:p>
            <a:pPr algn="ctr" indent="0" marL="0">
              <a:buNone/>
            </a:pPr>
            <a:r>
              <a:rPr lang="en-US" sz="1300" dirty="0">
                <a:solidFill>
                  <a:srgbClr val="2D3748"/>
                </a:solidFill>
                <a:latin typeface="Calibri" pitchFamily="34" charset="0"/>
                <a:ea typeface="Calibri" pitchFamily="34" charset="-122"/>
                <a:cs typeface="Calibri" pitchFamily="34" charset="-120"/>
              </a:rPr>
              <a:t>errors with AI assistance</a:t>
            </a:r>
            <a:endParaRPr lang="en-US" sz="1300" dirty="0"/>
          </a:p>
        </p:txBody>
      </p:sp>
      <p:sp>
        <p:nvSpPr>
          <p:cNvPr id="12" name="Shape 10"/>
          <p:cNvSpPr/>
          <p:nvPr/>
        </p:nvSpPr>
        <p:spPr>
          <a:xfrm>
            <a:off x="6309360" y="1371600"/>
            <a:ext cx="251460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309360" y="1371600"/>
            <a:ext cx="2514600" cy="54864"/>
          </a:xfrm>
          <a:prstGeom prst="rect">
            <a:avLst/>
          </a:prstGeom>
          <a:solidFill>
            <a:srgbClr val="0891B2"/>
          </a:solidFill>
          <a:ln/>
        </p:spPr>
      </p:sp>
      <p:sp>
        <p:nvSpPr>
          <p:cNvPr id="14" name="Text 12"/>
          <p:cNvSpPr/>
          <p:nvPr/>
        </p:nvSpPr>
        <p:spPr>
          <a:xfrm>
            <a:off x="6309360" y="1645920"/>
            <a:ext cx="2514600" cy="914400"/>
          </a:xfrm>
          <a:prstGeom prst="rect">
            <a:avLst/>
          </a:prstGeom>
          <a:noFill/>
          <a:ln/>
        </p:spPr>
        <p:txBody>
          <a:bodyPr wrap="square" rtlCol="0" anchor="ctr"/>
          <a:lstStyle/>
          <a:p>
            <a:pPr algn="ctr" indent="0" marL="0">
              <a:buNone/>
            </a:pPr>
            <a:r>
              <a:rPr lang="en-US" sz="4400" b="1" dirty="0">
                <a:solidFill>
                  <a:srgbClr val="0891B2"/>
                </a:solidFill>
                <a:latin typeface="Georgia" pitchFamily="34" charset="0"/>
                <a:ea typeface="Georgia" pitchFamily="34" charset="-122"/>
                <a:cs typeface="Georgia" pitchFamily="34" charset="-120"/>
              </a:rPr>
              <a:t>3.6M</a:t>
            </a:r>
            <a:endParaRPr lang="en-US" sz="4400" dirty="0"/>
          </a:p>
        </p:txBody>
      </p:sp>
      <p:sp>
        <p:nvSpPr>
          <p:cNvPr id="15" name="Text 13"/>
          <p:cNvSpPr/>
          <p:nvPr/>
        </p:nvSpPr>
        <p:spPr>
          <a:xfrm>
            <a:off x="6492240" y="2651760"/>
            <a:ext cx="2148840" cy="914400"/>
          </a:xfrm>
          <a:prstGeom prst="rect">
            <a:avLst/>
          </a:prstGeom>
          <a:noFill/>
          <a:ln/>
        </p:spPr>
        <p:txBody>
          <a:bodyPr wrap="square" rtlCol="0" anchor="t"/>
          <a:lstStyle/>
          <a:p>
            <a:pPr algn="ctr" indent="0" marL="0">
              <a:buNone/>
            </a:pPr>
            <a:r>
              <a:rPr lang="en-US" sz="1300" dirty="0">
                <a:solidFill>
                  <a:srgbClr val="2D3748"/>
                </a:solidFill>
                <a:latin typeface="Calibri" pitchFamily="34" charset="0"/>
                <a:ea typeface="Calibri" pitchFamily="34" charset="-122"/>
                <a:cs typeface="Calibri" pitchFamily="34" charset="-120"/>
              </a:rPr>
              <a:t>Lives potentially saved</a:t>
            </a:r>
            <a:endParaRPr lang="en-US" sz="1300" dirty="0"/>
          </a:p>
          <a:p>
            <a:pPr algn="ctr" indent="0" marL="0">
              <a:buNone/>
            </a:pPr>
            <a:r>
              <a:rPr lang="en-US" sz="1300" dirty="0">
                <a:solidFill>
                  <a:srgbClr val="2D3748"/>
                </a:solidFill>
                <a:latin typeface="Calibri" pitchFamily="34" charset="0"/>
                <a:ea typeface="Calibri" pitchFamily="34" charset="-122"/>
                <a:cs typeface="Calibri" pitchFamily="34" charset="-120"/>
              </a:rPr>
              <a:t>annually by 2030</a:t>
            </a:r>
            <a:endParaRPr lang="en-US" sz="1300" dirty="0"/>
          </a:p>
        </p:txBody>
      </p:sp>
      <p:sp>
        <p:nvSpPr>
          <p:cNvPr id="16" name="Text 14"/>
          <p:cNvSpPr/>
          <p:nvPr/>
        </p:nvSpPr>
        <p:spPr>
          <a:xfrm>
            <a:off x="731520" y="4572000"/>
            <a:ext cx="7772400" cy="365760"/>
          </a:xfrm>
          <a:prstGeom prst="rect">
            <a:avLst/>
          </a:prstGeom>
          <a:noFill/>
          <a:ln/>
        </p:spPr>
        <p:txBody>
          <a:bodyPr wrap="square"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Sources: Grand View Research, Nature Medicine, WHO Global Health Estimates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891B2"/>
          </a:solidFill>
          <a:ln/>
        </p:spPr>
      </p:sp>
      <p:sp>
        <p:nvSpPr>
          <p:cNvPr id="3" name="Text 1"/>
          <p:cNvSpPr/>
          <p:nvPr/>
        </p:nvSpPr>
        <p:spPr>
          <a:xfrm>
            <a:off x="731520" y="365760"/>
            <a:ext cx="7772400" cy="640080"/>
          </a:xfrm>
          <a:prstGeom prst="rect">
            <a:avLst/>
          </a:prstGeom>
          <a:noFill/>
          <a:ln/>
        </p:spPr>
        <p:txBody>
          <a:bodyPr wrap="square" lIns="0" tIns="0" rIns="0" bIns="0"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Key Applications</a:t>
            </a:r>
            <a:endParaRPr lang="en-US" sz="3600" dirty="0"/>
          </a:p>
        </p:txBody>
      </p:sp>
      <p:sp>
        <p:nvSpPr>
          <p:cNvPr id="4" name="Shape 2"/>
          <p:cNvSpPr/>
          <p:nvPr/>
        </p:nvSpPr>
        <p:spPr>
          <a:xfrm>
            <a:off x="731520" y="1280160"/>
            <a:ext cx="384048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960120" y="1554480"/>
            <a:ext cx="640080" cy="640080"/>
          </a:xfrm>
          <a:prstGeom prst="ellipse">
            <a:avLst/>
          </a:prstGeom>
          <a:solidFill>
            <a:srgbClr val="E8F4F8"/>
          </a:solidFill>
          <a:ln/>
        </p:spPr>
      </p:sp>
      <p:pic>
        <p:nvPicPr>
          <p:cNvPr id="6" name="Image 0" descr="preencoded.png">    </p:cNvPr>
          <p:cNvPicPr>
            <a:picLocks noChangeAspect="1"/>
          </p:cNvPicPr>
          <p:nvPr/>
        </p:nvPicPr>
        <p:blipFill>
          <a:blip r:embed="rId1"/>
          <a:stretch>
            <a:fillRect/>
          </a:stretch>
        </p:blipFill>
        <p:spPr>
          <a:xfrm>
            <a:off x="1078992" y="1673352"/>
            <a:ext cx="402336" cy="402336"/>
          </a:xfrm>
          <a:prstGeom prst="rect">
            <a:avLst/>
          </a:prstGeom>
        </p:spPr>
      </p:pic>
      <p:sp>
        <p:nvSpPr>
          <p:cNvPr id="7" name="Text 4"/>
          <p:cNvSpPr/>
          <p:nvPr/>
        </p:nvSpPr>
        <p:spPr>
          <a:xfrm>
            <a:off x="1783080" y="1463040"/>
            <a:ext cx="256032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Medical Imaging</a:t>
            </a:r>
            <a:endParaRPr lang="en-US" sz="1600" dirty="0"/>
          </a:p>
        </p:txBody>
      </p:sp>
      <p:sp>
        <p:nvSpPr>
          <p:cNvPr id="8" name="Text 5"/>
          <p:cNvSpPr/>
          <p:nvPr/>
        </p:nvSpPr>
        <p:spPr>
          <a:xfrm>
            <a:off x="1783080" y="1874520"/>
            <a:ext cx="2560320" cy="73152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AI algorithms detect tumors, fractures, and anomalies in X-rays, MRIs, and CT scans with superhuman accuracy.</a:t>
            </a:r>
            <a:endParaRPr lang="en-US" sz="1100" dirty="0"/>
          </a:p>
        </p:txBody>
      </p:sp>
      <p:sp>
        <p:nvSpPr>
          <p:cNvPr id="9" name="Shape 6"/>
          <p:cNvSpPr/>
          <p:nvPr/>
        </p:nvSpPr>
        <p:spPr>
          <a:xfrm>
            <a:off x="4846320" y="1280160"/>
            <a:ext cx="384048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5074920" y="1554480"/>
            <a:ext cx="640080" cy="640080"/>
          </a:xfrm>
          <a:prstGeom prst="ellipse">
            <a:avLst/>
          </a:prstGeom>
          <a:solidFill>
            <a:srgbClr val="E8F4F8"/>
          </a:solidFill>
          <a:ln/>
        </p:spPr>
      </p:sp>
      <p:pic>
        <p:nvPicPr>
          <p:cNvPr id="11" name="Image 1" descr="preencoded.png">    </p:cNvPr>
          <p:cNvPicPr>
            <a:picLocks noChangeAspect="1"/>
          </p:cNvPicPr>
          <p:nvPr/>
        </p:nvPicPr>
        <p:blipFill>
          <a:blip r:embed="rId2"/>
          <a:stretch>
            <a:fillRect/>
          </a:stretch>
        </p:blipFill>
        <p:spPr>
          <a:xfrm>
            <a:off x="5193792" y="1673352"/>
            <a:ext cx="402336" cy="402336"/>
          </a:xfrm>
          <a:prstGeom prst="rect">
            <a:avLst/>
          </a:prstGeom>
        </p:spPr>
      </p:pic>
      <p:sp>
        <p:nvSpPr>
          <p:cNvPr id="12" name="Text 8"/>
          <p:cNvSpPr/>
          <p:nvPr/>
        </p:nvSpPr>
        <p:spPr>
          <a:xfrm>
            <a:off x="5897880" y="1463040"/>
            <a:ext cx="256032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Predictive Analytics</a:t>
            </a:r>
            <a:endParaRPr lang="en-US" sz="1600" dirty="0"/>
          </a:p>
        </p:txBody>
      </p:sp>
      <p:sp>
        <p:nvSpPr>
          <p:cNvPr id="13" name="Text 9"/>
          <p:cNvSpPr/>
          <p:nvPr/>
        </p:nvSpPr>
        <p:spPr>
          <a:xfrm>
            <a:off x="5897880" y="1874520"/>
            <a:ext cx="2560320" cy="73152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Machine learning models forecast disease outbreaks, patient deterioration, and treatment outcomes.</a:t>
            </a:r>
            <a:endParaRPr lang="en-US" sz="1100" dirty="0"/>
          </a:p>
        </p:txBody>
      </p:sp>
      <p:sp>
        <p:nvSpPr>
          <p:cNvPr id="14" name="Shape 10"/>
          <p:cNvSpPr/>
          <p:nvPr/>
        </p:nvSpPr>
        <p:spPr>
          <a:xfrm>
            <a:off x="731520" y="3063240"/>
            <a:ext cx="384048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1"/>
          <p:cNvSpPr/>
          <p:nvPr/>
        </p:nvSpPr>
        <p:spPr>
          <a:xfrm>
            <a:off x="960120" y="3337560"/>
            <a:ext cx="640080" cy="640080"/>
          </a:xfrm>
          <a:prstGeom prst="ellipse">
            <a:avLst/>
          </a:prstGeom>
          <a:solidFill>
            <a:srgbClr val="E8F4F8"/>
          </a:solidFill>
          <a:ln/>
        </p:spPr>
      </p:sp>
      <p:pic>
        <p:nvPicPr>
          <p:cNvPr id="16" name="Image 2" descr="preencoded.png">    </p:cNvPr>
          <p:cNvPicPr>
            <a:picLocks noChangeAspect="1"/>
          </p:cNvPicPr>
          <p:nvPr/>
        </p:nvPicPr>
        <p:blipFill>
          <a:blip r:embed="rId3"/>
          <a:stretch>
            <a:fillRect/>
          </a:stretch>
        </p:blipFill>
        <p:spPr>
          <a:xfrm>
            <a:off x="1078992" y="3456432"/>
            <a:ext cx="402336" cy="402336"/>
          </a:xfrm>
          <a:prstGeom prst="rect">
            <a:avLst/>
          </a:prstGeom>
        </p:spPr>
      </p:pic>
      <p:sp>
        <p:nvSpPr>
          <p:cNvPr id="17" name="Text 12"/>
          <p:cNvSpPr/>
          <p:nvPr/>
        </p:nvSpPr>
        <p:spPr>
          <a:xfrm>
            <a:off x="1783080" y="3246120"/>
            <a:ext cx="256032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Virtual Health Assistants</a:t>
            </a:r>
            <a:endParaRPr lang="en-US" sz="1600" dirty="0"/>
          </a:p>
        </p:txBody>
      </p:sp>
      <p:sp>
        <p:nvSpPr>
          <p:cNvPr id="18" name="Text 13"/>
          <p:cNvSpPr/>
          <p:nvPr/>
        </p:nvSpPr>
        <p:spPr>
          <a:xfrm>
            <a:off x="1783080" y="3657600"/>
            <a:ext cx="2560320" cy="73152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AI chatbots triage symptoms, schedule appointments, and provide round-the-clock patient support.</a:t>
            </a:r>
            <a:endParaRPr lang="en-US" sz="1100" dirty="0"/>
          </a:p>
        </p:txBody>
      </p:sp>
      <p:sp>
        <p:nvSpPr>
          <p:cNvPr id="19" name="Shape 14"/>
          <p:cNvSpPr/>
          <p:nvPr/>
        </p:nvSpPr>
        <p:spPr>
          <a:xfrm>
            <a:off x="4846320" y="3063240"/>
            <a:ext cx="384048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5"/>
          <p:cNvSpPr/>
          <p:nvPr/>
        </p:nvSpPr>
        <p:spPr>
          <a:xfrm>
            <a:off x="5074920" y="3337560"/>
            <a:ext cx="640080" cy="640080"/>
          </a:xfrm>
          <a:prstGeom prst="ellipse">
            <a:avLst/>
          </a:prstGeom>
          <a:solidFill>
            <a:srgbClr val="E8F4F8"/>
          </a:solidFill>
          <a:ln/>
        </p:spPr>
      </p:sp>
      <p:pic>
        <p:nvPicPr>
          <p:cNvPr id="21" name="Image 3" descr="preencoded.png">    </p:cNvPr>
          <p:cNvPicPr>
            <a:picLocks noChangeAspect="1"/>
          </p:cNvPicPr>
          <p:nvPr/>
        </p:nvPicPr>
        <p:blipFill>
          <a:blip r:embed="rId4"/>
          <a:stretch>
            <a:fillRect/>
          </a:stretch>
        </p:blipFill>
        <p:spPr>
          <a:xfrm>
            <a:off x="5193792" y="3456432"/>
            <a:ext cx="402336" cy="402336"/>
          </a:xfrm>
          <a:prstGeom prst="rect">
            <a:avLst/>
          </a:prstGeom>
        </p:spPr>
      </p:pic>
      <p:sp>
        <p:nvSpPr>
          <p:cNvPr id="22" name="Text 16"/>
          <p:cNvSpPr/>
          <p:nvPr/>
        </p:nvSpPr>
        <p:spPr>
          <a:xfrm>
            <a:off x="5897880" y="3246120"/>
            <a:ext cx="256032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Drug Discovery</a:t>
            </a:r>
            <a:endParaRPr lang="en-US" sz="1600" dirty="0"/>
          </a:p>
        </p:txBody>
      </p:sp>
      <p:sp>
        <p:nvSpPr>
          <p:cNvPr id="23" name="Text 17"/>
          <p:cNvSpPr/>
          <p:nvPr/>
        </p:nvSpPr>
        <p:spPr>
          <a:xfrm>
            <a:off x="5897880" y="3657600"/>
            <a:ext cx="2560320" cy="73152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AI simulates molecular interactions to identify drug candidates in months instead of years.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891B2"/>
          </a:solidFill>
          <a:ln/>
        </p:spPr>
      </p:sp>
      <p:sp>
        <p:nvSpPr>
          <p:cNvPr id="3" name="Text 1"/>
          <p:cNvSpPr/>
          <p:nvPr/>
        </p:nvSpPr>
        <p:spPr>
          <a:xfrm>
            <a:off x="731520" y="365760"/>
            <a:ext cx="7772400" cy="640080"/>
          </a:xfrm>
          <a:prstGeom prst="rect">
            <a:avLst/>
          </a:prstGeom>
          <a:noFill/>
          <a:ln/>
        </p:spPr>
        <p:txBody>
          <a:bodyPr wrap="square" lIns="0" tIns="0" rIns="0" bIns="0"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Real-World Impact</a:t>
            </a:r>
            <a:endParaRPr lang="en-US" sz="3600" dirty="0"/>
          </a:p>
        </p:txBody>
      </p:sp>
      <p:sp>
        <p:nvSpPr>
          <p:cNvPr id="4" name="Text 2"/>
          <p:cNvSpPr/>
          <p:nvPr/>
        </p:nvSpPr>
        <p:spPr>
          <a:xfrm>
            <a:off x="731520" y="914400"/>
            <a:ext cx="7772400" cy="365760"/>
          </a:xfrm>
          <a:prstGeom prst="rect">
            <a:avLst/>
          </a:prstGeom>
          <a:noFill/>
          <a:ln/>
        </p:spPr>
        <p:txBody>
          <a:bodyPr wrap="square" rtlCol="0" anchor="ctr"/>
          <a:lstStyle/>
          <a:p>
            <a:pPr indent="0" marL="0">
              <a:buNone/>
            </a:pPr>
            <a:r>
              <a:rPr lang="en-US" sz="1400" dirty="0">
                <a:solidFill>
                  <a:srgbClr val="718096"/>
                </a:solidFill>
                <a:latin typeface="Calibri" pitchFamily="34" charset="0"/>
                <a:ea typeface="Calibri" pitchFamily="34" charset="-122"/>
                <a:cs typeface="Calibri" pitchFamily="34" charset="-120"/>
              </a:rPr>
              <a:t>AI adoption rates across healthcare sectors (2025)</a:t>
            </a:r>
            <a:endParaRPr lang="en-US" sz="1400" dirty="0"/>
          </a:p>
        </p:txBody>
      </p:sp>
      <p:graphicFrame>
        <p:nvGraphicFramePr>
          <p:cNvPr id="5" name="Chart 0" descr=""/>
          <p:cNvGraphicFramePr/>
          <p:nvPr/>
        </p:nvGraphicFramePr>
        <p:xfrm>
          <a:off x="731520" y="1371600"/>
          <a:ext cx="768096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891B2"/>
          </a:solidFill>
          <a:ln/>
        </p:spPr>
      </p:sp>
      <p:sp>
        <p:nvSpPr>
          <p:cNvPr id="3" name="Text 1"/>
          <p:cNvSpPr/>
          <p:nvPr/>
        </p:nvSpPr>
        <p:spPr>
          <a:xfrm>
            <a:off x="731520" y="365760"/>
            <a:ext cx="7772400" cy="640080"/>
          </a:xfrm>
          <a:prstGeom prst="rect">
            <a:avLst/>
          </a:prstGeom>
          <a:noFill/>
          <a:ln/>
        </p:spPr>
        <p:txBody>
          <a:bodyPr wrap="square" lIns="0" tIns="0" rIns="0" bIns="0"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Challenges &amp; Considerations</a:t>
            </a:r>
            <a:endParaRPr lang="en-US" sz="3600" dirty="0"/>
          </a:p>
        </p:txBody>
      </p:sp>
      <p:sp>
        <p:nvSpPr>
          <p:cNvPr id="4" name="Shape 2"/>
          <p:cNvSpPr/>
          <p:nvPr/>
        </p:nvSpPr>
        <p:spPr>
          <a:xfrm>
            <a:off x="731520" y="1188720"/>
            <a:ext cx="768096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731520" y="1188720"/>
            <a:ext cx="64008" cy="822960"/>
          </a:xfrm>
          <a:prstGeom prst="rect">
            <a:avLst/>
          </a:prstGeom>
          <a:solidFill>
            <a:srgbClr val="E53E3E"/>
          </a:solidFill>
          <a:ln/>
        </p:spPr>
      </p:sp>
      <p:sp>
        <p:nvSpPr>
          <p:cNvPr id="6" name="Text 4"/>
          <p:cNvSpPr/>
          <p:nvPr/>
        </p:nvSpPr>
        <p:spPr>
          <a:xfrm>
            <a:off x="1005840" y="1280160"/>
            <a:ext cx="457200" cy="64008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1</a:t>
            </a:r>
            <a:endParaRPr lang="en-US" sz="2800" dirty="0"/>
          </a:p>
        </p:txBody>
      </p:sp>
      <p:sp>
        <p:nvSpPr>
          <p:cNvPr id="7" name="Text 5"/>
          <p:cNvSpPr/>
          <p:nvPr/>
        </p:nvSpPr>
        <p:spPr>
          <a:xfrm>
            <a:off x="1554480" y="1261872"/>
            <a:ext cx="64008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Data Privacy</a:t>
            </a:r>
            <a:endParaRPr lang="en-US" sz="1600" dirty="0"/>
          </a:p>
        </p:txBody>
      </p:sp>
      <p:sp>
        <p:nvSpPr>
          <p:cNvPr id="8" name="Text 6"/>
          <p:cNvSpPr/>
          <p:nvPr/>
        </p:nvSpPr>
        <p:spPr>
          <a:xfrm>
            <a:off x="1554480" y="1600200"/>
            <a:ext cx="658368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Patient data must be protected under HIPAA, GDPR, and other regulations while still enabling AI training.</a:t>
            </a:r>
            <a:endParaRPr lang="en-US" sz="1200" dirty="0"/>
          </a:p>
        </p:txBody>
      </p:sp>
      <p:sp>
        <p:nvSpPr>
          <p:cNvPr id="9" name="Shape 7"/>
          <p:cNvSpPr/>
          <p:nvPr/>
        </p:nvSpPr>
        <p:spPr>
          <a:xfrm>
            <a:off x="731520" y="2240280"/>
            <a:ext cx="768096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731520" y="2240280"/>
            <a:ext cx="64008" cy="822960"/>
          </a:xfrm>
          <a:prstGeom prst="rect">
            <a:avLst/>
          </a:prstGeom>
          <a:solidFill>
            <a:srgbClr val="DD6B20"/>
          </a:solidFill>
          <a:ln/>
        </p:spPr>
      </p:sp>
      <p:sp>
        <p:nvSpPr>
          <p:cNvPr id="11" name="Text 9"/>
          <p:cNvSpPr/>
          <p:nvPr/>
        </p:nvSpPr>
        <p:spPr>
          <a:xfrm>
            <a:off x="1005840" y="2331720"/>
            <a:ext cx="457200" cy="64008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2</a:t>
            </a:r>
            <a:endParaRPr lang="en-US" sz="2800" dirty="0"/>
          </a:p>
        </p:txBody>
      </p:sp>
      <p:sp>
        <p:nvSpPr>
          <p:cNvPr id="12" name="Text 10"/>
          <p:cNvSpPr/>
          <p:nvPr/>
        </p:nvSpPr>
        <p:spPr>
          <a:xfrm>
            <a:off x="1554480" y="2313432"/>
            <a:ext cx="64008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Algorithmic Bias</a:t>
            </a:r>
            <a:endParaRPr lang="en-US" sz="1600" dirty="0"/>
          </a:p>
        </p:txBody>
      </p:sp>
      <p:sp>
        <p:nvSpPr>
          <p:cNvPr id="13" name="Text 11"/>
          <p:cNvSpPr/>
          <p:nvPr/>
        </p:nvSpPr>
        <p:spPr>
          <a:xfrm>
            <a:off x="1554480" y="2651760"/>
            <a:ext cx="658368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AI models trained on non-representative datasets can produce disparate outcomes across demographic groups.</a:t>
            </a:r>
            <a:endParaRPr lang="en-US" sz="1200" dirty="0"/>
          </a:p>
        </p:txBody>
      </p:sp>
      <p:sp>
        <p:nvSpPr>
          <p:cNvPr id="14" name="Shape 12"/>
          <p:cNvSpPr/>
          <p:nvPr/>
        </p:nvSpPr>
        <p:spPr>
          <a:xfrm>
            <a:off x="731520" y="3291840"/>
            <a:ext cx="768096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731520" y="3291840"/>
            <a:ext cx="64008" cy="822960"/>
          </a:xfrm>
          <a:prstGeom prst="rect">
            <a:avLst/>
          </a:prstGeom>
          <a:solidFill>
            <a:srgbClr val="D69E2E"/>
          </a:solidFill>
          <a:ln/>
        </p:spPr>
      </p:sp>
      <p:sp>
        <p:nvSpPr>
          <p:cNvPr id="16" name="Text 14"/>
          <p:cNvSpPr/>
          <p:nvPr/>
        </p:nvSpPr>
        <p:spPr>
          <a:xfrm>
            <a:off x="1005840" y="3383280"/>
            <a:ext cx="457200" cy="64008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3</a:t>
            </a:r>
            <a:endParaRPr lang="en-US" sz="2800" dirty="0"/>
          </a:p>
        </p:txBody>
      </p:sp>
      <p:sp>
        <p:nvSpPr>
          <p:cNvPr id="17" name="Text 15"/>
          <p:cNvSpPr/>
          <p:nvPr/>
        </p:nvSpPr>
        <p:spPr>
          <a:xfrm>
            <a:off x="1554480" y="3364992"/>
            <a:ext cx="64008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Regulatory Approval</a:t>
            </a:r>
            <a:endParaRPr lang="en-US" sz="1600" dirty="0"/>
          </a:p>
        </p:txBody>
      </p:sp>
      <p:sp>
        <p:nvSpPr>
          <p:cNvPr id="18" name="Text 16"/>
          <p:cNvSpPr/>
          <p:nvPr/>
        </p:nvSpPr>
        <p:spPr>
          <a:xfrm>
            <a:off x="1554480" y="3703320"/>
            <a:ext cx="658368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Medical AI systems require FDA clearance and ongoing monitoring, creating long go-to-market timelines.</a:t>
            </a:r>
            <a:endParaRPr lang="en-US" sz="1200" dirty="0"/>
          </a:p>
        </p:txBody>
      </p:sp>
      <p:sp>
        <p:nvSpPr>
          <p:cNvPr id="19" name="Text 17"/>
          <p:cNvSpPr/>
          <p:nvPr/>
        </p:nvSpPr>
        <p:spPr>
          <a:xfrm>
            <a:off x="731520" y="4389120"/>
            <a:ext cx="7772400" cy="457200"/>
          </a:xfrm>
          <a:prstGeom prst="rect">
            <a:avLst/>
          </a:prstGeom>
          <a:noFill/>
          <a:ln/>
        </p:spPr>
        <p:txBody>
          <a:bodyPr wrap="square"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Addressing these challenges is essential for responsible AI deployment in clinical settings.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pic>
        <p:nvPicPr>
          <p:cNvPr id="3" name="Image 0" descr="preencoded.png">    </p:cNvPr>
          <p:cNvPicPr>
            <a:picLocks noChangeAspect="1"/>
          </p:cNvPicPr>
          <p:nvPr/>
        </p:nvPicPr>
        <p:blipFill>
          <a:blip r:embed="rId1"/>
          <a:stretch>
            <a:fillRect/>
          </a:stretch>
        </p:blipFill>
        <p:spPr>
          <a:xfrm>
            <a:off x="4114800" y="822960"/>
            <a:ext cx="914400" cy="914400"/>
          </a:xfrm>
          <a:prstGeom prst="rect">
            <a:avLst/>
          </a:prstGeom>
        </p:spPr>
      </p:pic>
      <p:sp>
        <p:nvSpPr>
          <p:cNvPr id="4" name="Text 1"/>
          <p:cNvSpPr/>
          <p:nvPr/>
        </p:nvSpPr>
        <p:spPr>
          <a:xfrm>
            <a:off x="731520" y="1920240"/>
            <a:ext cx="7680960" cy="822960"/>
          </a:xfrm>
          <a:prstGeom prst="rect">
            <a:avLst/>
          </a:prstGeom>
          <a:noFill/>
          <a:ln/>
        </p:spPr>
        <p:txBody>
          <a:bodyPr wrap="square"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The Future is Now</a:t>
            </a:r>
            <a:endParaRPr lang="en-US" sz="4200" dirty="0"/>
          </a:p>
        </p:txBody>
      </p:sp>
      <p:sp>
        <p:nvSpPr>
          <p:cNvPr id="5" name="Text 2"/>
          <p:cNvSpPr/>
          <p:nvPr/>
        </p:nvSpPr>
        <p:spPr>
          <a:xfrm>
            <a:off x="1371600" y="2834640"/>
            <a:ext cx="6400800" cy="822960"/>
          </a:xfrm>
          <a:prstGeom prst="rect">
            <a:avLst/>
          </a:prstGeom>
          <a:noFill/>
          <a:ln/>
        </p:spPr>
        <p:txBody>
          <a:bodyPr wrap="square" rtlCol="0" anchor="ctr"/>
          <a:lstStyle/>
          <a:p>
            <a:pPr algn="ctr" indent="0" marL="0">
              <a:lnSpc>
                <a:spcPct val="130000"/>
              </a:lnSpc>
              <a:buNone/>
            </a:pPr>
            <a:r>
              <a:rPr lang="en-US" sz="1800" i="1" dirty="0">
                <a:solidFill>
                  <a:srgbClr val="A0BCD0"/>
                </a:solidFill>
                <a:latin typeface="Calibri" pitchFamily="34" charset="0"/>
                <a:ea typeface="Calibri" pitchFamily="34" charset="-122"/>
                <a:cs typeface="Calibri" pitchFamily="34" charset="-120"/>
              </a:rPr>
              <a:t>AI won't replace doctors — but doctors who use AI</a:t>
            </a:r>
            <a:endParaRPr lang="en-US" sz="1800" dirty="0"/>
          </a:p>
          <a:p>
            <a:pPr algn="ctr" indent="0" marL="0">
              <a:lnSpc>
                <a:spcPct val="130000"/>
              </a:lnSpc>
              <a:buNone/>
            </a:pPr>
            <a:r>
              <a:rPr lang="en-US" sz="1800" i="1" dirty="0">
                <a:solidFill>
                  <a:srgbClr val="A0BCD0"/>
                </a:solidFill>
                <a:latin typeface="Calibri" pitchFamily="34" charset="0"/>
                <a:ea typeface="Calibri" pitchFamily="34" charset="-122"/>
                <a:cs typeface="Calibri" pitchFamily="34" charset="-120"/>
              </a:rPr>
              <a:t>will replace those who don't.</a:t>
            </a:r>
            <a:endParaRPr lang="en-US" sz="1800" dirty="0"/>
          </a:p>
        </p:txBody>
      </p:sp>
      <p:sp>
        <p:nvSpPr>
          <p:cNvPr id="6" name="Shape 3"/>
          <p:cNvSpPr/>
          <p:nvPr/>
        </p:nvSpPr>
        <p:spPr>
          <a:xfrm>
            <a:off x="3200400" y="3840480"/>
            <a:ext cx="2743200" cy="0"/>
          </a:xfrm>
          <a:prstGeom prst="line">
            <a:avLst/>
          </a:prstGeom>
          <a:noFill/>
          <a:ln w="25400">
            <a:solidFill>
              <a:srgbClr val="0891B2"/>
            </a:solidFill>
            <a:prstDash val="solid"/>
          </a:ln>
        </p:spPr>
      </p:sp>
      <p:sp>
        <p:nvSpPr>
          <p:cNvPr id="7" name="Text 4"/>
          <p:cNvSpPr/>
          <p:nvPr/>
        </p:nvSpPr>
        <p:spPr>
          <a:xfrm>
            <a:off x="731520" y="4114800"/>
            <a:ext cx="7680960" cy="548640"/>
          </a:xfrm>
          <a:prstGeom prst="rect">
            <a:avLst/>
          </a:prstGeom>
          <a:noFill/>
          <a:ln/>
        </p:spPr>
        <p:txBody>
          <a:bodyPr wrap="square" rtlCol="0" anchor="ctr"/>
          <a:lstStyle/>
          <a:p>
            <a:pPr algn="ctr" indent="0" marL="0">
              <a:buNone/>
            </a:pPr>
            <a:r>
              <a:rPr lang="en-US" sz="2400" dirty="0">
                <a:solidFill>
                  <a:srgbClr val="FFFFFF"/>
                </a:solidFill>
                <a:latin typeface="Georgia" pitchFamily="34" charset="0"/>
                <a:ea typeface="Georgia" pitchFamily="34" charset="-122"/>
                <a:cs typeface="Georgia" pitchFamily="34" charset="-120"/>
              </a:rPr>
              <a:t>Thank You</a:t>
            </a:r>
            <a:endParaRPr lang="en-US" sz="2400" dirty="0"/>
          </a:p>
        </p:txBody>
      </p:sp>
      <p:sp>
        <p:nvSpPr>
          <p:cNvPr id="8" name="Text 5"/>
          <p:cNvSpPr/>
          <p:nvPr/>
        </p:nvSpPr>
        <p:spPr>
          <a:xfrm>
            <a:off x="731520" y="4663440"/>
            <a:ext cx="7680960" cy="274320"/>
          </a:xfrm>
          <a:prstGeom prst="rect">
            <a:avLst/>
          </a:prstGeom>
          <a:noFill/>
          <a:ln/>
        </p:spPr>
        <p:txBody>
          <a:bodyPr wrap="square" rtlCol="0" anchor="ctr"/>
          <a:lstStyle/>
          <a:p>
            <a:pPr algn="ctr" indent="0" marL="0">
              <a:buNone/>
            </a:pPr>
            <a:r>
              <a:rPr lang="en-US" sz="1100" dirty="0">
                <a:solidFill>
                  <a:srgbClr val="8AACBF"/>
                </a:solidFill>
                <a:latin typeface="Calibri" pitchFamily="34" charset="0"/>
                <a:ea typeface="Calibri" pitchFamily="34" charset="-122"/>
                <a:cs typeface="Calibri" pitchFamily="34" charset="-120"/>
              </a:rPr>
              <a:t>Generated with EchoDeck — PowerPoint to Narrated Video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AI in Healthcare</dc:title>
  <dc:subject>PptxGenJS Presentation</dc:subject>
  <dc:creator>EchoDeck Sample</dc:creator>
  <cp:lastModifiedBy>EchoDeck Sample</cp:lastModifiedBy>
  <cp:revision>1</cp:revision>
  <dcterms:created xsi:type="dcterms:W3CDTF">2026-03-16T20:14:40Z</dcterms:created>
  <dcterms:modified xsi:type="dcterms:W3CDTF">2026-03-16T20:14:40Z</dcterms:modified>
</cp:coreProperties>
</file>